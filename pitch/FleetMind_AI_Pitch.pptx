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[30s] Em 2024, acidentes com caminhões e ônibus mataram 3.291 pessoas nas rodovias federais brasileiras — 53% de todas as mortes no trânsito federal, sendo que esses veículos são apenas 4% da frota (fonte: PRF/Agência Brasil, 2024). Ao mesmo tempo, o custo logístico do Brasil consome 15,5% do PIB — quase o dobro dos Estados Unidos, que estão em 8,8% (ILOS, 2025). Grandes frotas já têm GPS, telemetria, câmeras, TMS, ERP — milhares de eventos por dia. O problema não é falta de dado. O problema é transformar milhares de dados em uma decisão certa, no momento certo. E hoje isso ainda depende de um humano perceber tudo sozinho.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[35s] Apresento o FleetMind AI: uma Fleet Intelligence Platform. Uma camada de inteligência que conecta veículo, motorista, gestor e operação — com o ambiente externo: trânsito, clima, rodovias, acidentes. Dado vira previsão. Previsão vira decisão. Decisão vira ação — em tempo real. Um ponto importante: o FleetMind não substitui a telemetria, o TMS ou o rastreamento que sua empresa já usa. Ele se integra a essas tecnologias e adiciona a camada de inteligência que falta.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[50s] Deixa eu mostrar um caso. Um caminhão está em viagem. Isoladamente, a IA vê: chuva forte a poucos km à frente, um trecho historicamente perigoso, velocidade incompatível, sinais de fadiga do motorista, e uma variação na telemetria do motor. Isoladamente, são só dados. Correlacionados, é risco crescente. O FleetMind age: alerta o motorista, recomenda reduzir a velocidade agora, recalcula a rota se necessário, informa a central, e se o motorista não responder, escala automaticamente para um operador humano. Tudo registrado, para a rede aprender. O FleetMind não mostra só o que está acontecendo. Ele ajuda a entender o que pode acontecer — e o que fazer a respeito.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[50s] Isso vale dinheiro. Quatro pilares: segurança, eficiência, previsibilidade, rentabilidade. Simulamos para uma frota de 100 veículos pesados: com base em dados reais de custo logístico e combustível — que hoje representa de 30 a 35% do custo operacional — essa frota opera com um custo estimado de R$ 66 milhões por ano. O investimento no FleetMind é de aproximadamente R$ 560 mil no primeiro ano. Mesmo no cenário conservador — 3% de economia, uma hipótese que vamos validar em piloto — o retorno é de mais de 250% no primeiro ano, com payback em semanas. No cenário base, o ROI passa de 600%. A pergunta que fica: quanto custa continuar operando sem essa inteligência?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[35s] O Brasil tem 2,24 milhões de caminhões e um mercado de tecnologia para gestão de frotas de cerca de US$ 1 bilhão — e apenas 20% das frotas usam telemetria hoje, contra 60% nos Estados Unidos. Isso é oportunidade. Nosso modelo é SaaS B2B: receita recorrente por veículo/mês, complementada por implantação, licenciamento Enterprise, marketplace de parceiros e consultoria em dados / IA as a Service. Nossa meta nos primeiros anos é capturar menos de 1% desse mercado endereçável — e isso já representa dezenas de milhões de reais em receita recorrente.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[35s] Não dizemos que não existem concorrentes. Rastreamento, telemetria, TMS, vídeo telemática — todos resolvem parte do problema, isoladamente. O FleetMind integra tudo isso e adiciona IA preditiva, IA generativa, visão computacional, contexto externo e agentes de IA que agem. Chamamos isso de Gestão Aumentada. Pensa no Coutinho: o Coutinho humano lidera, contextualiza, decide. O Coutinho AI monitora, correlaciona, prevê e recomenda 24 horas por dia. Não é substituir o gestor. É dar a ele uma capacidade de atenção que nenhum ser humano consegue manter sozinho.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[35s] Não vamos construir o ecossistema inteiro de uma vez. Começamos com um MVP focado nos dados essenciais. Depois, um piloto de 20 a 50 veículos, por 90 a 120 dias. Medimos antes e depois: eventos de risco, combustível, manutenção, custo por km, disponibilidade, atrasos. Com o ROI comprovado, vamos para contrato Enterprise e expansão. PoC, piloto, prova de ROI, contrato, escala — nessa ordem, sem atalhos.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[30s] ERPs organizaram os recursos da empresa. CRMs organizaram o relacionamento com o cliente. Acreditamos que uma nova camada de inteligência vai organizar a decisão operacional das frotas. O FleetMind quer ser essa camada. O futuro da gestão de frotas não vai ser só saber onde cada veículo está. Vai ser saber o que está acontecendo, o que provavelmente vai acontecer, e qual decisão tomar antes que o problema aconteça. Estamos buscando transportadoras parceiras para piloto, parceiros tecnológicos estratégicos e investidores para construir essa camada de inteligência com a gente. FleetMind AI: a inteligência que move o transporte.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0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FLEETMIND AI  •  O PROBLEMA</a:t>
            </a:r>
            <a:endParaRPr lang="en-US" sz="1300" dirty="0"/>
          </a:p>
        </p:txBody>
      </p:sp>
      <p:pic>
        <p:nvPicPr>
          <p:cNvPr id="3" name="Image 0" descr="../assets/logo_ico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384048"/>
            <a:ext cx="566928" cy="2736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86868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Grandes frotas não sofrem por falta de dado.</a:t>
            </a:r>
            <a:endParaRPr lang="en-US" sz="30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Sofrem por decisão tardia.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2514600"/>
            <a:ext cx="4160520" cy="3200400"/>
          </a:xfrm>
          <a:prstGeom prst="roundRect">
            <a:avLst>
              <a:gd name="adj" fmla="val 3429"/>
            </a:avLst>
          </a:prstGeom>
          <a:solidFill>
            <a:srgbClr val="0C2440"/>
          </a:solidFill>
          <a:ln w="12700">
            <a:solidFill>
              <a:srgbClr val="1E335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2651760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C9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53%</a:t>
            </a:r>
            <a:endParaRPr lang="en-US" sz="6400" dirty="0"/>
          </a:p>
        </p:txBody>
      </p:sp>
      <p:sp>
        <p:nvSpPr>
          <p:cNvPr id="7" name="Text 4"/>
          <p:cNvSpPr/>
          <p:nvPr/>
        </p:nvSpPr>
        <p:spPr>
          <a:xfrm>
            <a:off x="822960" y="3794760"/>
            <a:ext cx="3611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mortes em rodovias federais em 2024 envolveram caminhões e ônibus</a:t>
            </a:r>
            <a:endParaRPr lang="en-US" sz="135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que são apenas 4% da frota circulante.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892040" y="2514600"/>
            <a:ext cx="4160520" cy="3200400"/>
          </a:xfrm>
          <a:prstGeom prst="roundRect">
            <a:avLst>
              <a:gd name="adj" fmla="val 3429"/>
            </a:avLst>
          </a:prstGeom>
          <a:solidFill>
            <a:srgbClr val="0C2440"/>
          </a:solidFill>
          <a:ln w="12700">
            <a:solidFill>
              <a:srgbClr val="1E335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92040" y="2651760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078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15,5%</a:t>
            </a:r>
            <a:endParaRPr lang="en-US" sz="6400" dirty="0"/>
          </a:p>
        </p:txBody>
      </p:sp>
      <p:sp>
        <p:nvSpPr>
          <p:cNvPr id="10" name="Text 7"/>
          <p:cNvSpPr/>
          <p:nvPr/>
        </p:nvSpPr>
        <p:spPr>
          <a:xfrm>
            <a:off x="5166360" y="3794760"/>
            <a:ext cx="3611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PIB brasileiro é consumido por custo logístico em 2025</a:t>
            </a:r>
            <a:endParaRPr lang="en-US" sz="135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quase o dobro dos EUA (8,8%).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9464040" y="2514600"/>
            <a:ext cx="2148840" cy="457200"/>
          </a:xfrm>
          <a:prstGeom prst="roundRect">
            <a:avLst>
              <a:gd name="adj" fmla="val 14000"/>
            </a:avLst>
          </a:prstGeom>
          <a:solidFill>
            <a:srgbClr val="17294D"/>
          </a:solidFill>
          <a:ln w="9525">
            <a:solidFill>
              <a:srgbClr val="24406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464040" y="25146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9464040" y="3090672"/>
            <a:ext cx="2148840" cy="457200"/>
          </a:xfrm>
          <a:prstGeom prst="roundRect">
            <a:avLst>
              <a:gd name="adj" fmla="val 14000"/>
            </a:avLst>
          </a:prstGeom>
          <a:solidFill>
            <a:srgbClr val="17294D"/>
          </a:solidFill>
          <a:ln w="9525">
            <a:solidFill>
              <a:srgbClr val="24406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464040" y="309067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Telemetria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9464040" y="3666744"/>
            <a:ext cx="2148840" cy="457200"/>
          </a:xfrm>
          <a:prstGeom prst="roundRect">
            <a:avLst>
              <a:gd name="adj" fmla="val 14000"/>
            </a:avLst>
          </a:prstGeom>
          <a:solidFill>
            <a:srgbClr val="17294D"/>
          </a:solidFill>
          <a:ln w="9525">
            <a:solidFill>
              <a:srgbClr val="24406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464040" y="3666744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Câmeras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9464040" y="4242816"/>
            <a:ext cx="2148840" cy="457200"/>
          </a:xfrm>
          <a:prstGeom prst="roundRect">
            <a:avLst>
              <a:gd name="adj" fmla="val 14000"/>
            </a:avLst>
          </a:prstGeom>
          <a:solidFill>
            <a:srgbClr val="17294D"/>
          </a:solidFill>
          <a:ln w="9525">
            <a:solidFill>
              <a:srgbClr val="24406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464040" y="4242816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TMS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9464040" y="4818888"/>
            <a:ext cx="2148840" cy="457200"/>
          </a:xfrm>
          <a:prstGeom prst="roundRect">
            <a:avLst>
              <a:gd name="adj" fmla="val 14000"/>
            </a:avLst>
          </a:prstGeom>
          <a:solidFill>
            <a:srgbClr val="17294D"/>
          </a:solidFill>
          <a:ln w="9525">
            <a:solidFill>
              <a:srgbClr val="24406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464040" y="481888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9464040" y="5394960"/>
            <a:ext cx="2148840" cy="457200"/>
          </a:xfrm>
          <a:prstGeom prst="roundRect">
            <a:avLst>
              <a:gd name="adj" fmla="val 14000"/>
            </a:avLst>
          </a:prstGeom>
          <a:solidFill>
            <a:srgbClr val="17294D"/>
          </a:solidFill>
          <a:ln w="9525">
            <a:solidFill>
              <a:srgbClr val="24406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464040" y="53949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Manutenção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9464040" y="21488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fragmentados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48640" y="58978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 problema não é falta de dado. É transformar milhares de eventos em uma decisão certa, no momento certo.”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FLEETMIND AI  •  A SOLUÇÃO</a:t>
            </a:r>
            <a:endParaRPr lang="en-US" sz="1300" dirty="0"/>
          </a:p>
        </p:txBody>
      </p:sp>
      <p:pic>
        <p:nvPicPr>
          <p:cNvPr id="3" name="Image 0" descr="../assets/logo_icon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384048"/>
            <a:ext cx="566928" cy="2736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Fleet Intelligence Platform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48640" y="148132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camada de inteligência que conecta veículo, motorista, gestor, operação e ambiente externo — para antecipar riscos e recomendar decisões em tempo real.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67512" y="2788920"/>
            <a:ext cx="1965960" cy="2148840"/>
          </a:xfrm>
          <a:prstGeom prst="roundRect">
            <a:avLst>
              <a:gd name="adj" fmla="val 4651"/>
            </a:avLst>
          </a:prstGeom>
          <a:solidFill>
            <a:srgbClr val="E9EEF2"/>
          </a:solidFill>
          <a:ln w="12700">
            <a:solidFill>
              <a:srgbClr val="D6DEE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4672" y="2898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8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3291840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0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DADOS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777240" y="3776472"/>
            <a:ext cx="17465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Telemetria, GPS, câmeras, ERP/TMS, trânsito, clima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615184" y="3566160"/>
            <a:ext cx="51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AA9C4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2889504" y="2788920"/>
            <a:ext cx="1965960" cy="2148840"/>
          </a:xfrm>
          <a:prstGeom prst="roundRect">
            <a:avLst>
              <a:gd name="adj" fmla="val 4651"/>
            </a:avLst>
          </a:prstGeom>
          <a:solidFill>
            <a:srgbClr val="E9EEF2"/>
          </a:solidFill>
          <a:ln w="12700">
            <a:solidFill>
              <a:srgbClr val="D6DEE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026664" y="2898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8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999232" y="3291840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0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2999232" y="3776472"/>
            <a:ext cx="17465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Correlaciona eventos internos e externos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837176" y="3566160"/>
            <a:ext cx="51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AA9C4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5111496" y="2788920"/>
            <a:ext cx="1965960" cy="2148840"/>
          </a:xfrm>
          <a:prstGeom prst="roundRect">
            <a:avLst>
              <a:gd name="adj" fmla="val 4651"/>
            </a:avLst>
          </a:prstGeom>
          <a:solidFill>
            <a:srgbClr val="E9EEF2"/>
          </a:solidFill>
          <a:ln w="12700">
            <a:solidFill>
              <a:srgbClr val="D6DEE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248656" y="2898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8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221224" y="3291840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0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PREVISÃO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5221224" y="3776472"/>
            <a:ext cx="17465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Antecipa risco antes que vire ocorrência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059168" y="3566160"/>
            <a:ext cx="51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AA9C4"/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7333488" y="2788920"/>
            <a:ext cx="1965960" cy="2148840"/>
          </a:xfrm>
          <a:prstGeom prst="roundRect">
            <a:avLst>
              <a:gd name="adj" fmla="val 4651"/>
            </a:avLst>
          </a:prstGeom>
          <a:solidFill>
            <a:srgbClr val="E9EEF2"/>
          </a:solidFill>
          <a:ln w="12700">
            <a:solidFill>
              <a:srgbClr val="D6DEE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470648" y="2898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8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443216" y="3291840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0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DECISÃO</a:t>
            </a:r>
            <a:endParaRPr lang="en-US" sz="1650" dirty="0"/>
          </a:p>
        </p:txBody>
      </p:sp>
      <p:sp>
        <p:nvSpPr>
          <p:cNvPr id="24" name="Text 21"/>
          <p:cNvSpPr/>
          <p:nvPr/>
        </p:nvSpPr>
        <p:spPr>
          <a:xfrm>
            <a:off x="7443216" y="3776472"/>
            <a:ext cx="17465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 a melhor ação possível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9281160" y="3566160"/>
            <a:ext cx="51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AA9C4"/>
                </a:solidFill>
              </a:rPr>
              <a:t>→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9555480" y="2788920"/>
            <a:ext cx="1965960" cy="2148840"/>
          </a:xfrm>
          <a:prstGeom prst="roundRect">
            <a:avLst>
              <a:gd name="adj" fmla="val 4651"/>
            </a:avLst>
          </a:prstGeom>
          <a:solidFill>
            <a:srgbClr val="007880"/>
          </a:solidFill>
          <a:ln w="12700">
            <a:solidFill>
              <a:srgbClr val="00788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692640" y="2898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9665208" y="3291840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AÇÃO</a:t>
            </a:r>
            <a:endParaRPr lang="en-US" sz="1650" dirty="0"/>
          </a:p>
        </p:txBody>
      </p:sp>
      <p:sp>
        <p:nvSpPr>
          <p:cNvPr id="29" name="Text 26"/>
          <p:cNvSpPr/>
          <p:nvPr/>
        </p:nvSpPr>
        <p:spPr>
          <a:xfrm>
            <a:off x="9665208" y="3776472"/>
            <a:ext cx="17465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D8E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Executa, notifica e aprende com o resultado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548640" y="534924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F7E9E0"/>
          </a:solidFill>
          <a:ln w="12700">
            <a:solidFill>
              <a:srgbClr val="EDD0BE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22960" y="53492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C9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FleetMind não substitui telemetria, TMS ou rastreamento. 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 integra essas tecnologias que sua empresa já usa e adiciona a camada de inteligência que falta.</a:t>
            </a:r>
            <a:endParaRPr lang="en-US" sz="1400" dirty="0"/>
          </a:p>
        </p:txBody>
      </p:sp>
      <p:sp>
        <p:nvSpPr>
          <p:cNvPr id="33" name="Text 29"/>
          <p:cNvSpPr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C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FLEETMIND AI  •  EM AÇÃO</a:t>
            </a:r>
            <a:endParaRPr lang="en-US" sz="1300" dirty="0"/>
          </a:p>
        </p:txBody>
      </p:sp>
      <p:pic>
        <p:nvPicPr>
          <p:cNvPr id="3" name="Image 0" descr="../assets/logo_icon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384048"/>
            <a:ext cx="566928" cy="2736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caso real de operação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2646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caminhão em viagem. Cinco sinais isolados — que, correlacionados, mudam tudo.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2148840"/>
            <a:ext cx="2029968" cy="777240"/>
          </a:xfrm>
          <a:prstGeom prst="roundRect">
            <a:avLst>
              <a:gd name="adj" fmla="val 9412"/>
            </a:avLst>
          </a:prstGeom>
          <a:solidFill>
            <a:srgbClr val="E9EEF2"/>
          </a:solidFill>
          <a:ln w="12700">
            <a:solidFill>
              <a:srgbClr val="D6DEE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2148840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00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🌧 Chuva forte à frente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2706624" y="2148840"/>
            <a:ext cx="2029968" cy="777240"/>
          </a:xfrm>
          <a:prstGeom prst="roundRect">
            <a:avLst>
              <a:gd name="adj" fmla="val 9412"/>
            </a:avLst>
          </a:prstGeom>
          <a:solidFill>
            <a:srgbClr val="E9EEF2"/>
          </a:solidFill>
          <a:ln w="12700">
            <a:solidFill>
              <a:srgbClr val="D6DEE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98064" y="2148840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00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Trecho historicamente crítico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864608" y="2148840"/>
            <a:ext cx="2029968" cy="777240"/>
          </a:xfrm>
          <a:prstGeom prst="roundRect">
            <a:avLst>
              <a:gd name="adj" fmla="val 9412"/>
            </a:avLst>
          </a:prstGeom>
          <a:solidFill>
            <a:srgbClr val="E9EEF2"/>
          </a:solidFill>
          <a:ln w="12700">
            <a:solidFill>
              <a:srgbClr val="D6DEE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956048" y="2148840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00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🚚 Velocidade incompatível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022592" y="2148840"/>
            <a:ext cx="2029968" cy="777240"/>
          </a:xfrm>
          <a:prstGeom prst="roundRect">
            <a:avLst>
              <a:gd name="adj" fmla="val 9412"/>
            </a:avLst>
          </a:prstGeom>
          <a:solidFill>
            <a:srgbClr val="E9EEF2"/>
          </a:solidFill>
          <a:ln w="12700">
            <a:solidFill>
              <a:srgbClr val="D6DEE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14032" y="2148840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00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😴 Sinais de fadiga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9180576" y="2148840"/>
            <a:ext cx="2029968" cy="777240"/>
          </a:xfrm>
          <a:prstGeom prst="roundRect">
            <a:avLst>
              <a:gd name="adj" fmla="val 9412"/>
            </a:avLst>
          </a:prstGeom>
          <a:solidFill>
            <a:srgbClr val="E9EEF2"/>
          </a:solidFill>
          <a:ln w="12700">
            <a:solidFill>
              <a:srgbClr val="D6DEE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272016" y="2148840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00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Variação na telemetria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48640" y="30632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A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correlacionados pela IA  ↓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566160" y="3429000"/>
            <a:ext cx="5029200" cy="548640"/>
          </a:xfrm>
          <a:prstGeom prst="roundRect">
            <a:avLst>
              <a:gd name="adj" fmla="val 50000"/>
            </a:avLst>
          </a:prstGeom>
          <a:solidFill>
            <a:srgbClr val="C9622A"/>
          </a:solidFill>
          <a:ln/>
        </p:spPr>
      </p:sp>
      <p:sp>
        <p:nvSpPr>
          <p:cNvPr id="18" name="Text 15"/>
          <p:cNvSpPr/>
          <p:nvPr/>
        </p:nvSpPr>
        <p:spPr>
          <a:xfrm>
            <a:off x="3566160" y="34290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RISCO CRESCENTE DETECTADO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548640" y="4343400"/>
            <a:ext cx="2139696" cy="1005840"/>
          </a:xfrm>
          <a:prstGeom prst="roundRect">
            <a:avLst>
              <a:gd name="adj" fmla="val 7273"/>
            </a:avLst>
          </a:prstGeom>
          <a:solidFill>
            <a:srgbClr val="007880"/>
          </a:solidFill>
          <a:ln/>
        </p:spPr>
      </p:sp>
      <p:sp>
        <p:nvSpPr>
          <p:cNvPr id="20" name="Text 17"/>
          <p:cNvSpPr/>
          <p:nvPr/>
        </p:nvSpPr>
        <p:spPr>
          <a:xfrm>
            <a:off x="658368" y="43434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Alerta o motorista em tempo real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2779776" y="4343400"/>
            <a:ext cx="2139696" cy="1005840"/>
          </a:xfrm>
          <a:prstGeom prst="roundRect">
            <a:avLst>
              <a:gd name="adj" fmla="val 7273"/>
            </a:avLst>
          </a:prstGeom>
          <a:solidFill>
            <a:srgbClr val="007880"/>
          </a:solidFill>
          <a:ln/>
        </p:spPr>
      </p:sp>
      <p:sp>
        <p:nvSpPr>
          <p:cNvPr id="22" name="Text 19"/>
          <p:cNvSpPr/>
          <p:nvPr/>
        </p:nvSpPr>
        <p:spPr>
          <a:xfrm>
            <a:off x="2889504" y="43434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Recomenda reduzir a velocidade agora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010912" y="4343400"/>
            <a:ext cx="2139696" cy="1005840"/>
          </a:xfrm>
          <a:prstGeom prst="roundRect">
            <a:avLst>
              <a:gd name="adj" fmla="val 7273"/>
            </a:avLst>
          </a:prstGeom>
          <a:solidFill>
            <a:srgbClr val="007880"/>
          </a:solidFill>
          <a:ln/>
        </p:spPr>
      </p:sp>
      <p:sp>
        <p:nvSpPr>
          <p:cNvPr id="24" name="Text 21"/>
          <p:cNvSpPr/>
          <p:nvPr/>
        </p:nvSpPr>
        <p:spPr>
          <a:xfrm>
            <a:off x="5120640" y="43434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Recalcula e envia rota alternativa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242048" y="4343400"/>
            <a:ext cx="2139696" cy="1005840"/>
          </a:xfrm>
          <a:prstGeom prst="roundRect">
            <a:avLst>
              <a:gd name="adj" fmla="val 7273"/>
            </a:avLst>
          </a:prstGeom>
          <a:solidFill>
            <a:srgbClr val="007880"/>
          </a:solidFill>
          <a:ln/>
        </p:spPr>
      </p:sp>
      <p:sp>
        <p:nvSpPr>
          <p:cNvPr id="26" name="Text 23"/>
          <p:cNvSpPr/>
          <p:nvPr/>
        </p:nvSpPr>
        <p:spPr>
          <a:xfrm>
            <a:off x="7351776" y="43434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Informa a central de operação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9473184" y="4343400"/>
            <a:ext cx="2139696" cy="1005840"/>
          </a:xfrm>
          <a:prstGeom prst="roundRect">
            <a:avLst>
              <a:gd name="adj" fmla="val 7273"/>
            </a:avLst>
          </a:prstGeom>
          <a:solidFill>
            <a:srgbClr val="007880"/>
          </a:solidFill>
          <a:ln/>
        </p:spPr>
      </p:sp>
      <p:sp>
        <p:nvSpPr>
          <p:cNvPr id="28" name="Text 25"/>
          <p:cNvSpPr/>
          <p:nvPr/>
        </p:nvSpPr>
        <p:spPr>
          <a:xfrm>
            <a:off x="9582912" y="43434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Escala p/ humano se não houver resposta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48640" y="56235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 FleetMind não mostra apenas o que está acontecendo. Ajuda a entender o que pode acontecer — e o que fazer a respeito.”</a:t>
            </a:r>
            <a:endParaRPr lang="en-US" sz="1400" dirty="0"/>
          </a:p>
        </p:txBody>
      </p:sp>
      <p:sp>
        <p:nvSpPr>
          <p:cNvPr id="31" name="Text 27"/>
          <p:cNvSpPr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C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FLEETMIND AI  •  VALOR ECONÔMICO</a:t>
            </a:r>
            <a:endParaRPr lang="en-US" sz="1300" dirty="0"/>
          </a:p>
        </p:txBody>
      </p:sp>
      <p:pic>
        <p:nvPicPr>
          <p:cNvPr id="3" name="Image 0" descr="../assets/logo_icon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384048"/>
            <a:ext cx="566928" cy="2736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8229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 custa continuar operando sem essa inteligência?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2697480" cy="960120"/>
          </a:xfrm>
          <a:prstGeom prst="roundRect">
            <a:avLst>
              <a:gd name="adj" fmla="val 7619"/>
            </a:avLst>
          </a:prstGeom>
          <a:solidFill>
            <a:srgbClr val="E9EEF2"/>
          </a:solidFill>
          <a:ln w="12700">
            <a:solidFill>
              <a:srgbClr val="D6DEE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167335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78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Segurança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85800" y="202996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risco e acidentes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374136" y="1600200"/>
            <a:ext cx="2697480" cy="960120"/>
          </a:xfrm>
          <a:prstGeom prst="roundRect">
            <a:avLst>
              <a:gd name="adj" fmla="val 7619"/>
            </a:avLst>
          </a:prstGeom>
          <a:solidFill>
            <a:srgbClr val="E9EEF2"/>
          </a:solidFill>
          <a:ln w="12700">
            <a:solidFill>
              <a:srgbClr val="D6DEE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511296" y="167335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78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Eficiência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3511296" y="202996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uso de frota, combustível e rotas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199632" y="1600200"/>
            <a:ext cx="2697480" cy="960120"/>
          </a:xfrm>
          <a:prstGeom prst="roundRect">
            <a:avLst>
              <a:gd name="adj" fmla="val 7619"/>
            </a:avLst>
          </a:prstGeom>
          <a:solidFill>
            <a:srgbClr val="E9EEF2"/>
          </a:solidFill>
          <a:ln w="12700">
            <a:solidFill>
              <a:srgbClr val="D6DEE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36792" y="167335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78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Previsibilidade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336792" y="202996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Antecipação de falhas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9025128" y="1600200"/>
            <a:ext cx="2697480" cy="960120"/>
          </a:xfrm>
          <a:prstGeom prst="roundRect">
            <a:avLst>
              <a:gd name="adj" fmla="val 7619"/>
            </a:avLst>
          </a:prstGeom>
          <a:solidFill>
            <a:srgbClr val="E9EEF2"/>
          </a:solidFill>
          <a:ln w="12700">
            <a:solidFill>
              <a:srgbClr val="D6DEE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62288" y="167335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78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Rentabilidade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9162288" y="202996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custo, mais produtividade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48640" y="2788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Simulação ilustrativa — frota de 100 veículos pesados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48640" y="31089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operacional estimado da frota: R$ 66,4 milhões/ano  ·  Investimento FleetMind (ano 1): R$ 558 mil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48640" y="3566160"/>
            <a:ext cx="3584448" cy="2331720"/>
          </a:xfrm>
          <a:prstGeom prst="roundRect">
            <a:avLst>
              <a:gd name="adj" fmla="val 3922"/>
            </a:avLst>
          </a:prstGeom>
          <a:solidFill>
            <a:srgbClr val="E9EEF2"/>
          </a:solidFill>
          <a:ln w="12700">
            <a:solidFill>
              <a:srgbClr val="D6DEE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8640" y="3703320"/>
            <a:ext cx="3584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CONSERVADOR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48640" y="3977640"/>
            <a:ext cx="3584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257%</a:t>
            </a:r>
            <a:endParaRPr lang="en-US" sz="4000" dirty="0"/>
          </a:p>
        </p:txBody>
      </p:sp>
      <p:sp>
        <p:nvSpPr>
          <p:cNvPr id="22" name="Text 19"/>
          <p:cNvSpPr/>
          <p:nvPr/>
        </p:nvSpPr>
        <p:spPr>
          <a:xfrm>
            <a:off x="548640" y="4828032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no ano 1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48640" y="5193792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Economia: R$ 1,99 mi/ano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548640" y="5468112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Payback: 3,4 meses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288536" y="3566160"/>
            <a:ext cx="3584448" cy="2331720"/>
          </a:xfrm>
          <a:prstGeom prst="roundRect">
            <a:avLst>
              <a:gd name="adj" fmla="val 3922"/>
            </a:avLst>
          </a:prstGeom>
          <a:solidFill>
            <a:srgbClr val="007880"/>
          </a:solidFill>
          <a:ln w="12700">
            <a:solidFill>
              <a:srgbClr val="00788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288536" y="3703320"/>
            <a:ext cx="3584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D8E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288536" y="3977640"/>
            <a:ext cx="3584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613%</a:t>
            </a:r>
            <a:endParaRPr lang="en-US" sz="4000" dirty="0"/>
          </a:p>
        </p:txBody>
      </p:sp>
      <p:sp>
        <p:nvSpPr>
          <p:cNvPr id="28" name="Text 25"/>
          <p:cNvSpPr/>
          <p:nvPr/>
        </p:nvSpPr>
        <p:spPr>
          <a:xfrm>
            <a:off x="4288536" y="4828032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E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no ano 1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4288536" y="5193792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Economia: R$ 3,98 mi/ano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4288536" y="5468112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8E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Payback: 1,7 meses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8028432" y="3566160"/>
            <a:ext cx="3584448" cy="2331720"/>
          </a:xfrm>
          <a:prstGeom prst="roundRect">
            <a:avLst>
              <a:gd name="adj" fmla="val 3922"/>
            </a:avLst>
          </a:prstGeom>
          <a:solidFill>
            <a:srgbClr val="E9EEF2"/>
          </a:solidFill>
          <a:ln w="12700">
            <a:solidFill>
              <a:srgbClr val="D6DEE4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028432" y="3703320"/>
            <a:ext cx="3584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C9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OTIMISTA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8028432" y="3977640"/>
            <a:ext cx="3584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1.090%</a:t>
            </a:r>
            <a:endParaRPr lang="en-US" sz="4000" dirty="0"/>
          </a:p>
        </p:txBody>
      </p:sp>
      <p:sp>
        <p:nvSpPr>
          <p:cNvPr id="34" name="Text 31"/>
          <p:cNvSpPr/>
          <p:nvPr/>
        </p:nvSpPr>
        <p:spPr>
          <a:xfrm>
            <a:off x="8028432" y="4828032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no ano 1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8028432" y="5193792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Economia: R$ 6,64 mi/ano</a:t>
            </a:r>
            <a:endParaRPr lang="en-US" sz="1150" dirty="0"/>
          </a:p>
        </p:txBody>
      </p:sp>
      <p:sp>
        <p:nvSpPr>
          <p:cNvPr id="36" name="Text 33"/>
          <p:cNvSpPr/>
          <p:nvPr/>
        </p:nvSpPr>
        <p:spPr>
          <a:xfrm>
            <a:off x="8028432" y="5468112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Payback: 1,0 mês</a:t>
            </a:r>
            <a:endParaRPr lang="en-US" sz="1150" dirty="0"/>
          </a:p>
        </p:txBody>
      </p:sp>
      <p:sp>
        <p:nvSpPr>
          <p:cNvPr id="37" name="Text 34"/>
          <p:cNvSpPr/>
          <p:nvPr/>
        </p:nvSpPr>
        <p:spPr>
          <a:xfrm>
            <a:off x="548640" y="601675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HIPÓTESE a validar em piloto: percentuais de economia (3% / 6% / 10% do custo operacional). FATO: combustível = 30–35% do custo operacional (CNT/NTC&amp;Log.); custo logístico BR = 15,5% do PIB (ILOS 2025).</a:t>
            </a:r>
            <a:endParaRPr lang="en-US" sz="950" dirty="0"/>
          </a:p>
        </p:txBody>
      </p:sp>
      <p:sp>
        <p:nvSpPr>
          <p:cNvPr id="39" name="Text 35"/>
          <p:cNvSpPr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C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FLEETMIND AI  •  MERCADO &amp; MODELO</a:t>
            </a:r>
            <a:endParaRPr lang="en-US" sz="1300" dirty="0"/>
          </a:p>
        </p:txBody>
      </p:sp>
      <p:pic>
        <p:nvPicPr>
          <p:cNvPr id="3" name="Image 0" descr="../assets/logo_icon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384048"/>
            <a:ext cx="566928" cy="2736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8229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mercado grande, pouco digitalizado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6035040" cy="960120"/>
          </a:xfrm>
          <a:prstGeom prst="roundRect">
            <a:avLst>
              <a:gd name="adj" fmla="val 7619"/>
            </a:avLst>
          </a:prstGeom>
          <a:solidFill>
            <a:srgbClr val="0B1830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783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176479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R$ 10,5 bi/ano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2167128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2,24 mi de caminhões no Brasil (Sindipeças 2024)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325880" y="2834640"/>
            <a:ext cx="4480560" cy="960120"/>
          </a:xfrm>
          <a:prstGeom prst="roundRect">
            <a:avLst>
              <a:gd name="adj" fmla="val 7619"/>
            </a:avLst>
          </a:prstGeom>
          <a:solidFill>
            <a:srgbClr val="13284A"/>
          </a:solidFill>
          <a:ln/>
        </p:spPr>
      </p:sp>
      <p:sp>
        <p:nvSpPr>
          <p:cNvPr id="10" name="Text 7"/>
          <p:cNvSpPr/>
          <p:nvPr/>
        </p:nvSpPr>
        <p:spPr>
          <a:xfrm>
            <a:off x="1508760" y="2926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234440" y="29077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R$ 5,5 bi/ano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508760" y="331012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de tecnologia de gestão de frotas no Brasil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103120" y="3977640"/>
            <a:ext cx="2926080" cy="960120"/>
          </a:xfrm>
          <a:prstGeom prst="roundRect">
            <a:avLst>
              <a:gd name="adj" fmla="val 7619"/>
            </a:avLst>
          </a:prstGeom>
          <a:solidFill>
            <a:srgbClr val="007880"/>
          </a:solidFill>
          <a:ln/>
        </p:spPr>
      </p:sp>
      <p:sp>
        <p:nvSpPr>
          <p:cNvPr id="14" name="Text 11"/>
          <p:cNvSpPr/>
          <p:nvPr/>
        </p:nvSpPr>
        <p:spPr>
          <a:xfrm>
            <a:off x="2286000" y="4069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011680" y="40507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R$ 30–50 mi/ano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2286000" y="44531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de captura em 3 anos (&lt; 1% do SAM)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48640" y="525780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20% das frotas brasileiras usam telemetria hoje, contra 60% nos EUA — a lacuna é a oportunidade.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903720" y="1691640"/>
            <a:ext cx="4709160" cy="4114800"/>
          </a:xfrm>
          <a:prstGeom prst="roundRect">
            <a:avLst>
              <a:gd name="adj" fmla="val 2222"/>
            </a:avLst>
          </a:prstGeom>
          <a:solidFill>
            <a:srgbClr val="E9EEF2"/>
          </a:solidFill>
          <a:ln w="12700">
            <a:solidFill>
              <a:srgbClr val="D6DEE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178040" y="187452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negócio: B2B SaaS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178040" y="23317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recorrente principal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7178040" y="260604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 por veículo / mês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7178040" y="3136392"/>
            <a:ext cx="82296" cy="82296"/>
          </a:xfrm>
          <a:prstGeom prst="oval">
            <a:avLst/>
          </a:prstGeom>
          <a:solidFill>
            <a:srgbClr val="007880"/>
          </a:solidFill>
          <a:ln/>
        </p:spPr>
      </p:sp>
      <p:sp>
        <p:nvSpPr>
          <p:cNvPr id="23" name="Text 20"/>
          <p:cNvSpPr/>
          <p:nvPr/>
        </p:nvSpPr>
        <p:spPr>
          <a:xfrm>
            <a:off x="7406640" y="3063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Licenciamento Enterprise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178040" y="3538728"/>
            <a:ext cx="82296" cy="82296"/>
          </a:xfrm>
          <a:prstGeom prst="oval">
            <a:avLst/>
          </a:prstGeom>
          <a:solidFill>
            <a:srgbClr val="007880"/>
          </a:solidFill>
          <a:ln/>
        </p:spPr>
      </p:sp>
      <p:sp>
        <p:nvSpPr>
          <p:cNvPr id="25" name="Text 22"/>
          <p:cNvSpPr/>
          <p:nvPr/>
        </p:nvSpPr>
        <p:spPr>
          <a:xfrm>
            <a:off x="7406640" y="346557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Implantação e customizações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7178040" y="3941064"/>
            <a:ext cx="82296" cy="82296"/>
          </a:xfrm>
          <a:prstGeom prst="oval">
            <a:avLst/>
          </a:prstGeom>
          <a:solidFill>
            <a:srgbClr val="007880"/>
          </a:solidFill>
          <a:ln/>
        </p:spPr>
      </p:sp>
      <p:sp>
        <p:nvSpPr>
          <p:cNvPr id="27" name="Text 24"/>
          <p:cNvSpPr/>
          <p:nvPr/>
        </p:nvSpPr>
        <p:spPr>
          <a:xfrm>
            <a:off x="7406640" y="38679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de parceiros &amp; APIs premium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178040" y="4343400"/>
            <a:ext cx="82296" cy="82296"/>
          </a:xfrm>
          <a:prstGeom prst="oval">
            <a:avLst/>
          </a:prstGeom>
          <a:solidFill>
            <a:srgbClr val="007880"/>
          </a:solidFill>
          <a:ln/>
        </p:spPr>
      </p:sp>
      <p:sp>
        <p:nvSpPr>
          <p:cNvPr id="29" name="Text 26"/>
          <p:cNvSpPr/>
          <p:nvPr/>
        </p:nvSpPr>
        <p:spPr>
          <a:xfrm>
            <a:off x="7406640" y="427024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Consultoria em dados / IA as a Service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7178040" y="470916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Complementos que aumentam o ticket médio sem depender só de novos veículos.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548640" y="63093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Sindipeças (2024) · Frost &amp; Sullivan / mercado de fleet-tech Brasil (2024) · Frotacia — pesquisa de adoção de telemetria.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C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FLEETMIND AI  •  DIFERENCIAL</a:t>
            </a:r>
            <a:endParaRPr lang="en-US" sz="1300" dirty="0"/>
          </a:p>
        </p:txBody>
      </p:sp>
      <p:pic>
        <p:nvPicPr>
          <p:cNvPr id="3" name="Image 0" descr="../assets/logo_icon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384048"/>
            <a:ext cx="566928" cy="2736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8229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Gestão Aumentada, não substituição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4023360" cy="594360"/>
          </a:xfrm>
          <a:prstGeom prst="rect">
            <a:avLst/>
          </a:prstGeom>
          <a:solidFill>
            <a:srgbClr val="00102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60020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572000" y="1600200"/>
            <a:ext cx="1408176" cy="594360"/>
          </a:xfrm>
          <a:prstGeom prst="rect">
            <a:avLst/>
          </a:prstGeom>
          <a:solidFill>
            <a:srgbClr val="00102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0" y="1600200"/>
            <a:ext cx="1408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Rastreamento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980176" y="1600200"/>
            <a:ext cx="1408176" cy="594360"/>
          </a:xfrm>
          <a:prstGeom prst="rect">
            <a:avLst/>
          </a:prstGeom>
          <a:solidFill>
            <a:srgbClr val="00102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80176" y="1600200"/>
            <a:ext cx="1408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Telemetria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388352" y="1600200"/>
            <a:ext cx="1408176" cy="594360"/>
          </a:xfrm>
          <a:prstGeom prst="rect">
            <a:avLst/>
          </a:prstGeom>
          <a:solidFill>
            <a:srgbClr val="00102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88352" y="1600200"/>
            <a:ext cx="1408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796528" y="1600200"/>
            <a:ext cx="1408176" cy="594360"/>
          </a:xfrm>
          <a:prstGeom prst="rect">
            <a:avLst/>
          </a:prstGeom>
          <a:solidFill>
            <a:srgbClr val="00102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96528" y="1600200"/>
            <a:ext cx="1408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</a:t>
            </a:r>
            <a:endParaRPr lang="en-US" sz="10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telemática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0204704" y="1600200"/>
            <a:ext cx="1408176" cy="594360"/>
          </a:xfrm>
          <a:prstGeom prst="rect">
            <a:avLst/>
          </a:prstGeom>
          <a:solidFill>
            <a:srgbClr val="00788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204704" y="1600200"/>
            <a:ext cx="1408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FleetMind</a:t>
            </a:r>
            <a:endParaRPr lang="en-US" sz="10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48640" y="2194560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8368" y="21945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Localização em tempo real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0" y="2194560"/>
            <a:ext cx="1408176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0" y="219456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980176" y="2194560"/>
            <a:ext cx="1408176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980176" y="219456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7388352" y="2194560"/>
            <a:ext cx="1408176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88352" y="219456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3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8796528" y="2194560"/>
            <a:ext cx="1408176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796528" y="219456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3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10204704" y="2194560"/>
            <a:ext cx="1408176" cy="457200"/>
          </a:xfrm>
          <a:prstGeom prst="rect">
            <a:avLst/>
          </a:prstGeom>
          <a:solidFill>
            <a:srgbClr val="E3F1F2"/>
          </a:solidFill>
          <a:ln w="6350">
            <a:solidFill>
              <a:srgbClr val="D6DEE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204704" y="219456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548640" y="2651760"/>
            <a:ext cx="4023360" cy="457200"/>
          </a:xfrm>
          <a:prstGeom prst="rect">
            <a:avLst/>
          </a:prstGeom>
          <a:solidFill>
            <a:srgbClr val="E9EEF2"/>
          </a:solidFill>
          <a:ln w="6350">
            <a:solidFill>
              <a:srgbClr val="D6DEE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58368" y="26517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 condução/motor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572000" y="2651760"/>
            <a:ext cx="1408176" cy="457200"/>
          </a:xfrm>
          <a:prstGeom prst="rect">
            <a:avLst/>
          </a:prstGeom>
          <a:solidFill>
            <a:srgbClr val="E9EEF2"/>
          </a:solidFill>
          <a:ln w="6350">
            <a:solidFill>
              <a:srgbClr val="D6DEE4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572000" y="265176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3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5980176" y="2651760"/>
            <a:ext cx="1408176" cy="457200"/>
          </a:xfrm>
          <a:prstGeom prst="rect">
            <a:avLst/>
          </a:prstGeom>
          <a:solidFill>
            <a:srgbClr val="E9EEF2"/>
          </a:solidFill>
          <a:ln w="6350">
            <a:solidFill>
              <a:srgbClr val="D6DEE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80176" y="265176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7388352" y="2651760"/>
            <a:ext cx="1408176" cy="457200"/>
          </a:xfrm>
          <a:prstGeom prst="rect">
            <a:avLst/>
          </a:prstGeom>
          <a:solidFill>
            <a:srgbClr val="E9EEF2"/>
          </a:solidFill>
          <a:ln w="6350">
            <a:solidFill>
              <a:srgbClr val="D6DEE4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388352" y="265176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3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8796528" y="2651760"/>
            <a:ext cx="1408176" cy="457200"/>
          </a:xfrm>
          <a:prstGeom prst="rect">
            <a:avLst/>
          </a:prstGeom>
          <a:solidFill>
            <a:srgbClr val="E9EEF2"/>
          </a:solidFill>
          <a:ln w="6350">
            <a:solidFill>
              <a:srgbClr val="D6DEE4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796528" y="265176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3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10204704" y="2651760"/>
            <a:ext cx="1408176" cy="457200"/>
          </a:xfrm>
          <a:prstGeom prst="rect">
            <a:avLst/>
          </a:prstGeom>
          <a:solidFill>
            <a:srgbClr val="E3F1F2"/>
          </a:solidFill>
          <a:ln w="6350">
            <a:solidFill>
              <a:srgbClr val="D6DEE4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204704" y="265176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548640" y="3108960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4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58368" y="31089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fretes/operação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572000" y="3108960"/>
            <a:ext cx="1408176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4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572000" y="310896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3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45" name="Shape 42"/>
          <p:cNvSpPr/>
          <p:nvPr/>
        </p:nvSpPr>
        <p:spPr>
          <a:xfrm>
            <a:off x="5980176" y="3108960"/>
            <a:ext cx="1408176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4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980176" y="310896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3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47" name="Shape 44"/>
          <p:cNvSpPr/>
          <p:nvPr/>
        </p:nvSpPr>
        <p:spPr>
          <a:xfrm>
            <a:off x="7388352" y="3108960"/>
            <a:ext cx="1408176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4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7388352" y="310896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9" name="Shape 46"/>
          <p:cNvSpPr/>
          <p:nvPr/>
        </p:nvSpPr>
        <p:spPr>
          <a:xfrm>
            <a:off x="8796528" y="3108960"/>
            <a:ext cx="1408176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4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8796528" y="310896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3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51" name="Shape 48"/>
          <p:cNvSpPr/>
          <p:nvPr/>
        </p:nvSpPr>
        <p:spPr>
          <a:xfrm>
            <a:off x="10204704" y="3108960"/>
            <a:ext cx="1408176" cy="457200"/>
          </a:xfrm>
          <a:prstGeom prst="rect">
            <a:avLst/>
          </a:prstGeom>
          <a:solidFill>
            <a:srgbClr val="E3F1F2"/>
          </a:solidFill>
          <a:ln w="6350">
            <a:solidFill>
              <a:srgbClr val="D6DEE4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10204704" y="310896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3" name="Shape 50"/>
          <p:cNvSpPr/>
          <p:nvPr/>
        </p:nvSpPr>
        <p:spPr>
          <a:xfrm>
            <a:off x="548640" y="3566160"/>
            <a:ext cx="4023360" cy="457200"/>
          </a:xfrm>
          <a:prstGeom prst="rect">
            <a:avLst/>
          </a:prstGeom>
          <a:solidFill>
            <a:srgbClr val="E9EEF2"/>
          </a:solidFill>
          <a:ln w="6350">
            <a:solidFill>
              <a:srgbClr val="D6DEE4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58368" y="35661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computacional (fadiga/risco)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4572000" y="3566160"/>
            <a:ext cx="1408176" cy="457200"/>
          </a:xfrm>
          <a:prstGeom prst="rect">
            <a:avLst/>
          </a:prstGeom>
          <a:solidFill>
            <a:srgbClr val="E9EEF2"/>
          </a:solidFill>
          <a:ln w="6350">
            <a:solidFill>
              <a:srgbClr val="D6DEE4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4572000" y="356616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3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57" name="Shape 54"/>
          <p:cNvSpPr/>
          <p:nvPr/>
        </p:nvSpPr>
        <p:spPr>
          <a:xfrm>
            <a:off x="5980176" y="3566160"/>
            <a:ext cx="1408176" cy="457200"/>
          </a:xfrm>
          <a:prstGeom prst="rect">
            <a:avLst/>
          </a:prstGeom>
          <a:solidFill>
            <a:srgbClr val="E9EEF2"/>
          </a:solidFill>
          <a:ln w="6350">
            <a:solidFill>
              <a:srgbClr val="D6DEE4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5980176" y="356616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3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59" name="Shape 56"/>
          <p:cNvSpPr/>
          <p:nvPr/>
        </p:nvSpPr>
        <p:spPr>
          <a:xfrm>
            <a:off x="7388352" y="3566160"/>
            <a:ext cx="1408176" cy="457200"/>
          </a:xfrm>
          <a:prstGeom prst="rect">
            <a:avLst/>
          </a:prstGeom>
          <a:solidFill>
            <a:srgbClr val="E9EEF2"/>
          </a:solidFill>
          <a:ln w="6350">
            <a:solidFill>
              <a:srgbClr val="D6DEE4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7388352" y="356616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3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61" name="Shape 58"/>
          <p:cNvSpPr/>
          <p:nvPr/>
        </p:nvSpPr>
        <p:spPr>
          <a:xfrm>
            <a:off x="8796528" y="3566160"/>
            <a:ext cx="1408176" cy="457200"/>
          </a:xfrm>
          <a:prstGeom prst="rect">
            <a:avLst/>
          </a:prstGeom>
          <a:solidFill>
            <a:srgbClr val="E9EEF2"/>
          </a:solidFill>
          <a:ln w="6350">
            <a:solidFill>
              <a:srgbClr val="D6DEE4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8796528" y="356616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3" name="Shape 60"/>
          <p:cNvSpPr/>
          <p:nvPr/>
        </p:nvSpPr>
        <p:spPr>
          <a:xfrm>
            <a:off x="10204704" y="3566160"/>
            <a:ext cx="1408176" cy="457200"/>
          </a:xfrm>
          <a:prstGeom prst="rect">
            <a:avLst/>
          </a:prstGeom>
          <a:solidFill>
            <a:srgbClr val="E3F1F2"/>
          </a:solidFill>
          <a:ln w="6350">
            <a:solidFill>
              <a:srgbClr val="D6DEE4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10204704" y="356616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5" name="Shape 62"/>
          <p:cNvSpPr/>
          <p:nvPr/>
        </p:nvSpPr>
        <p:spPr>
          <a:xfrm>
            <a:off x="548640" y="4023360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4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658368" y="40233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preditiva + generativa</a:t>
            </a:r>
            <a:endParaRPr lang="en-US" sz="1100" dirty="0"/>
          </a:p>
        </p:txBody>
      </p:sp>
      <p:sp>
        <p:nvSpPr>
          <p:cNvPr id="67" name="Shape 64"/>
          <p:cNvSpPr/>
          <p:nvPr/>
        </p:nvSpPr>
        <p:spPr>
          <a:xfrm>
            <a:off x="4572000" y="4023360"/>
            <a:ext cx="1408176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4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4572000" y="402336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3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69" name="Shape 66"/>
          <p:cNvSpPr/>
          <p:nvPr/>
        </p:nvSpPr>
        <p:spPr>
          <a:xfrm>
            <a:off x="5980176" y="4023360"/>
            <a:ext cx="1408176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4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5980176" y="402336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3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71" name="Shape 68"/>
          <p:cNvSpPr/>
          <p:nvPr/>
        </p:nvSpPr>
        <p:spPr>
          <a:xfrm>
            <a:off x="7388352" y="4023360"/>
            <a:ext cx="1408176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4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7388352" y="402336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3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73" name="Shape 70"/>
          <p:cNvSpPr/>
          <p:nvPr/>
        </p:nvSpPr>
        <p:spPr>
          <a:xfrm>
            <a:off x="8796528" y="4023360"/>
            <a:ext cx="1408176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4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8796528" y="402336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3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75" name="Shape 72"/>
          <p:cNvSpPr/>
          <p:nvPr/>
        </p:nvSpPr>
        <p:spPr>
          <a:xfrm>
            <a:off x="10204704" y="4023360"/>
            <a:ext cx="1408176" cy="457200"/>
          </a:xfrm>
          <a:prstGeom prst="rect">
            <a:avLst/>
          </a:prstGeom>
          <a:solidFill>
            <a:srgbClr val="E3F1F2"/>
          </a:solidFill>
          <a:ln w="6350">
            <a:solidFill>
              <a:srgbClr val="D6DEE4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10204704" y="402336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7" name="Shape 74"/>
          <p:cNvSpPr/>
          <p:nvPr/>
        </p:nvSpPr>
        <p:spPr>
          <a:xfrm>
            <a:off x="548640" y="4480560"/>
            <a:ext cx="4023360" cy="457200"/>
          </a:xfrm>
          <a:prstGeom prst="rect">
            <a:avLst/>
          </a:prstGeom>
          <a:solidFill>
            <a:srgbClr val="E9EEF2"/>
          </a:solidFill>
          <a:ln w="6350">
            <a:solidFill>
              <a:srgbClr val="D6DEE4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658368" y="44805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que age em tempo real</a:t>
            </a:r>
            <a:endParaRPr lang="en-US" sz="1100" dirty="0"/>
          </a:p>
        </p:txBody>
      </p:sp>
      <p:sp>
        <p:nvSpPr>
          <p:cNvPr id="79" name="Shape 76"/>
          <p:cNvSpPr/>
          <p:nvPr/>
        </p:nvSpPr>
        <p:spPr>
          <a:xfrm>
            <a:off x="4572000" y="4480560"/>
            <a:ext cx="1408176" cy="457200"/>
          </a:xfrm>
          <a:prstGeom prst="rect">
            <a:avLst/>
          </a:prstGeom>
          <a:solidFill>
            <a:srgbClr val="E9EEF2"/>
          </a:solidFill>
          <a:ln w="6350">
            <a:solidFill>
              <a:srgbClr val="D6DEE4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4572000" y="448056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3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81" name="Shape 78"/>
          <p:cNvSpPr/>
          <p:nvPr/>
        </p:nvSpPr>
        <p:spPr>
          <a:xfrm>
            <a:off x="5980176" y="4480560"/>
            <a:ext cx="1408176" cy="457200"/>
          </a:xfrm>
          <a:prstGeom prst="rect">
            <a:avLst/>
          </a:prstGeom>
          <a:solidFill>
            <a:srgbClr val="E9EEF2"/>
          </a:solidFill>
          <a:ln w="6350">
            <a:solidFill>
              <a:srgbClr val="D6DEE4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5980176" y="448056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3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83" name="Shape 80"/>
          <p:cNvSpPr/>
          <p:nvPr/>
        </p:nvSpPr>
        <p:spPr>
          <a:xfrm>
            <a:off x="7388352" y="4480560"/>
            <a:ext cx="1408176" cy="457200"/>
          </a:xfrm>
          <a:prstGeom prst="rect">
            <a:avLst/>
          </a:prstGeom>
          <a:solidFill>
            <a:srgbClr val="E9EEF2"/>
          </a:solidFill>
          <a:ln w="6350">
            <a:solidFill>
              <a:srgbClr val="D6DEE4"/>
            </a:solidFill>
            <a:prstDash val="solid"/>
          </a:ln>
        </p:spPr>
      </p:sp>
      <p:sp>
        <p:nvSpPr>
          <p:cNvPr id="84" name="Text 81"/>
          <p:cNvSpPr/>
          <p:nvPr/>
        </p:nvSpPr>
        <p:spPr>
          <a:xfrm>
            <a:off x="7388352" y="448056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3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85" name="Shape 82"/>
          <p:cNvSpPr/>
          <p:nvPr/>
        </p:nvSpPr>
        <p:spPr>
          <a:xfrm>
            <a:off x="8796528" y="4480560"/>
            <a:ext cx="1408176" cy="457200"/>
          </a:xfrm>
          <a:prstGeom prst="rect">
            <a:avLst/>
          </a:prstGeom>
          <a:solidFill>
            <a:srgbClr val="E9EEF2"/>
          </a:solidFill>
          <a:ln w="6350">
            <a:solidFill>
              <a:srgbClr val="D6DEE4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8796528" y="448056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3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87" name="Shape 84"/>
          <p:cNvSpPr/>
          <p:nvPr/>
        </p:nvSpPr>
        <p:spPr>
          <a:xfrm>
            <a:off x="10204704" y="4480560"/>
            <a:ext cx="1408176" cy="457200"/>
          </a:xfrm>
          <a:prstGeom prst="rect">
            <a:avLst/>
          </a:prstGeom>
          <a:solidFill>
            <a:srgbClr val="E3F1F2"/>
          </a:solidFill>
          <a:ln w="6350">
            <a:solidFill>
              <a:srgbClr val="D6DEE4"/>
            </a:solidFill>
            <a:prstDash val="solid"/>
          </a:ln>
        </p:spPr>
      </p:sp>
      <p:sp>
        <p:nvSpPr>
          <p:cNvPr id="88" name="Text 85"/>
          <p:cNvSpPr/>
          <p:nvPr/>
        </p:nvSpPr>
        <p:spPr>
          <a:xfrm>
            <a:off x="10204704" y="448056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9" name="Shape 86"/>
          <p:cNvSpPr/>
          <p:nvPr/>
        </p:nvSpPr>
        <p:spPr>
          <a:xfrm>
            <a:off x="548640" y="516636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001028"/>
          </a:solidFill>
          <a:ln/>
        </p:spPr>
      </p:sp>
      <p:sp>
        <p:nvSpPr>
          <p:cNvPr id="90" name="Text 87"/>
          <p:cNvSpPr/>
          <p:nvPr/>
        </p:nvSpPr>
        <p:spPr>
          <a:xfrm>
            <a:off x="777240" y="528523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8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Coutinho Humano</a:t>
            </a:r>
            <a:endParaRPr lang="en-US" sz="1400" dirty="0"/>
          </a:p>
        </p:txBody>
      </p:sp>
      <p:sp>
        <p:nvSpPr>
          <p:cNvPr id="91" name="Text 88"/>
          <p:cNvSpPr/>
          <p:nvPr/>
        </p:nvSpPr>
        <p:spPr>
          <a:xfrm>
            <a:off x="777240" y="562356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Lidera, contextualiza e decide.</a:t>
            </a:r>
            <a:endParaRPr lang="en-US" sz="1200" dirty="0"/>
          </a:p>
        </p:txBody>
      </p:sp>
      <p:sp>
        <p:nvSpPr>
          <p:cNvPr id="92" name="Shape 89"/>
          <p:cNvSpPr/>
          <p:nvPr/>
        </p:nvSpPr>
        <p:spPr>
          <a:xfrm>
            <a:off x="6035040" y="516636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007880"/>
          </a:solidFill>
          <a:ln/>
        </p:spPr>
      </p:sp>
      <p:sp>
        <p:nvSpPr>
          <p:cNvPr id="93" name="Text 90"/>
          <p:cNvSpPr/>
          <p:nvPr/>
        </p:nvSpPr>
        <p:spPr>
          <a:xfrm>
            <a:off x="6263640" y="528523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Coutinho AI</a:t>
            </a:r>
            <a:endParaRPr lang="en-US" sz="1400" dirty="0"/>
          </a:p>
        </p:txBody>
      </p:sp>
      <p:sp>
        <p:nvSpPr>
          <p:cNvPr id="94" name="Text 91"/>
          <p:cNvSpPr/>
          <p:nvPr/>
        </p:nvSpPr>
        <p:spPr>
          <a:xfrm>
            <a:off x="6263640" y="562356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8E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Monitora, correlaciona, prevê e recomenda 24/7.</a:t>
            </a:r>
            <a:endParaRPr lang="en-US" sz="1200" dirty="0"/>
          </a:p>
        </p:txBody>
      </p:sp>
      <p:sp>
        <p:nvSpPr>
          <p:cNvPr id="96" name="Text 92"/>
          <p:cNvSpPr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C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FLEETMIND AI  •  IMPLANTAÇÃO</a:t>
            </a:r>
            <a:endParaRPr lang="en-US" sz="1300" dirty="0"/>
          </a:p>
        </p:txBody>
      </p:sp>
      <p:pic>
        <p:nvPicPr>
          <p:cNvPr id="3" name="Image 0" descr="../assets/logo_icon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384048"/>
            <a:ext cx="566928" cy="2736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8229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Começamos pequeno. Escalamos com prova.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1650492" y="2423160"/>
            <a:ext cx="8887968" cy="0"/>
          </a:xfrm>
          <a:prstGeom prst="line">
            <a:avLst/>
          </a:prstGeom>
          <a:noFill/>
          <a:ln w="25400">
            <a:solidFill>
              <a:srgbClr val="D6DEE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330452" y="2103120"/>
            <a:ext cx="640080" cy="640080"/>
          </a:xfrm>
          <a:prstGeom prst="oval">
            <a:avLst/>
          </a:prstGeom>
          <a:solidFill>
            <a:srgbClr val="007880"/>
          </a:solidFill>
          <a:ln/>
        </p:spPr>
      </p:sp>
      <p:sp>
        <p:nvSpPr>
          <p:cNvPr id="7" name="Text 4"/>
          <p:cNvSpPr/>
          <p:nvPr/>
        </p:nvSpPr>
        <p:spPr>
          <a:xfrm>
            <a:off x="1330452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67512" y="2926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67512" y="3310128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dos dados essenciais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552444" y="2103120"/>
            <a:ext cx="640080" cy="640080"/>
          </a:xfrm>
          <a:prstGeom prst="oval">
            <a:avLst/>
          </a:prstGeom>
          <a:solidFill>
            <a:srgbClr val="007880"/>
          </a:solidFill>
          <a:ln/>
        </p:spPr>
      </p:sp>
      <p:sp>
        <p:nvSpPr>
          <p:cNvPr id="11" name="Text 8"/>
          <p:cNvSpPr/>
          <p:nvPr/>
        </p:nvSpPr>
        <p:spPr>
          <a:xfrm>
            <a:off x="3552444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2889504" y="2926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Piloto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2889504" y="3310128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20–50 veículos, 90–120 dias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774436" y="2103120"/>
            <a:ext cx="640080" cy="640080"/>
          </a:xfrm>
          <a:prstGeom prst="oval">
            <a:avLst/>
          </a:prstGeom>
          <a:solidFill>
            <a:srgbClr val="007880"/>
          </a:solidFill>
          <a:ln/>
        </p:spPr>
      </p:sp>
      <p:sp>
        <p:nvSpPr>
          <p:cNvPr id="15" name="Text 12"/>
          <p:cNvSpPr/>
          <p:nvPr/>
        </p:nvSpPr>
        <p:spPr>
          <a:xfrm>
            <a:off x="5774436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5111496" y="2926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Medição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5111496" y="3310128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antes × depois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996428" y="2103120"/>
            <a:ext cx="640080" cy="640080"/>
          </a:xfrm>
          <a:prstGeom prst="oval">
            <a:avLst/>
          </a:prstGeom>
          <a:solidFill>
            <a:srgbClr val="C9622A"/>
          </a:solidFill>
          <a:ln/>
        </p:spPr>
      </p:sp>
      <p:sp>
        <p:nvSpPr>
          <p:cNvPr id="19" name="Text 16"/>
          <p:cNvSpPr/>
          <p:nvPr/>
        </p:nvSpPr>
        <p:spPr>
          <a:xfrm>
            <a:off x="7996428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7333488" y="2926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 de ROI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7333488" y="3310128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validado e documentado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10218420" y="2103120"/>
            <a:ext cx="640080" cy="640080"/>
          </a:xfrm>
          <a:prstGeom prst="oval">
            <a:avLst/>
          </a:prstGeom>
          <a:solidFill>
            <a:srgbClr val="007880"/>
          </a:solidFill>
          <a:ln/>
        </p:spPr>
      </p:sp>
      <p:sp>
        <p:nvSpPr>
          <p:cNvPr id="23" name="Text 20"/>
          <p:cNvSpPr/>
          <p:nvPr/>
        </p:nvSpPr>
        <p:spPr>
          <a:xfrm>
            <a:off x="1021842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9555480" y="2926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9555480" y="3310128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Enterprise e expansão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48640" y="4434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medimos no piloto: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48640" y="4846320"/>
            <a:ext cx="1792224" cy="457200"/>
          </a:xfrm>
          <a:prstGeom prst="roundRect">
            <a:avLst>
              <a:gd name="adj" fmla="val 50000"/>
            </a:avLst>
          </a:prstGeom>
          <a:solidFill>
            <a:srgbClr val="E9EEF2"/>
          </a:solidFill>
          <a:ln w="12700">
            <a:solidFill>
              <a:srgbClr val="D6DEE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48640" y="484632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de risco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2487168" y="4846320"/>
            <a:ext cx="1312164" cy="457200"/>
          </a:xfrm>
          <a:prstGeom prst="roundRect">
            <a:avLst>
              <a:gd name="adj" fmla="val 50000"/>
            </a:avLst>
          </a:prstGeom>
          <a:solidFill>
            <a:srgbClr val="E9EEF2"/>
          </a:solidFill>
          <a:ln w="12700">
            <a:solidFill>
              <a:srgbClr val="D6DEE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487168" y="4846320"/>
            <a:ext cx="13121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Combustível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3945636" y="4846320"/>
            <a:ext cx="1216152" cy="457200"/>
          </a:xfrm>
          <a:prstGeom prst="roundRect">
            <a:avLst>
              <a:gd name="adj" fmla="val 50000"/>
            </a:avLst>
          </a:prstGeom>
          <a:solidFill>
            <a:srgbClr val="E9EEF2"/>
          </a:solidFill>
          <a:ln w="12700">
            <a:solidFill>
              <a:srgbClr val="D6DEE4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945636" y="4846320"/>
            <a:ext cx="1216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Manutenção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5308092" y="4846320"/>
            <a:ext cx="1408176" cy="457200"/>
          </a:xfrm>
          <a:prstGeom prst="roundRect">
            <a:avLst>
              <a:gd name="adj" fmla="val 50000"/>
            </a:avLst>
          </a:prstGeom>
          <a:solidFill>
            <a:srgbClr val="E9EEF2"/>
          </a:solidFill>
          <a:ln w="12700">
            <a:solidFill>
              <a:srgbClr val="D6DEE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308092" y="484632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por km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6862572" y="4846320"/>
            <a:ext cx="1696212" cy="457200"/>
          </a:xfrm>
          <a:prstGeom prst="roundRect">
            <a:avLst>
              <a:gd name="adj" fmla="val 50000"/>
            </a:avLst>
          </a:prstGeom>
          <a:solidFill>
            <a:srgbClr val="E9EEF2"/>
          </a:solidFill>
          <a:ln w="12700">
            <a:solidFill>
              <a:srgbClr val="D6DEE4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862572" y="4846320"/>
            <a:ext cx="16962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Disponibilidade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8705088" y="4846320"/>
            <a:ext cx="928116" cy="457200"/>
          </a:xfrm>
          <a:prstGeom prst="roundRect">
            <a:avLst>
              <a:gd name="adj" fmla="val 50000"/>
            </a:avLst>
          </a:prstGeom>
          <a:solidFill>
            <a:srgbClr val="E9EEF2"/>
          </a:solidFill>
          <a:ln w="12700">
            <a:solidFill>
              <a:srgbClr val="D6DEE4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705088" y="4846320"/>
            <a:ext cx="928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Atrasos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9779508" y="4846320"/>
            <a:ext cx="1888236" cy="457200"/>
          </a:xfrm>
          <a:prstGeom prst="roundRect">
            <a:avLst>
              <a:gd name="adj" fmla="val 50000"/>
            </a:avLst>
          </a:prstGeom>
          <a:solidFill>
            <a:srgbClr val="E9EEF2"/>
          </a:solidFill>
          <a:ln w="12700">
            <a:solidFill>
              <a:srgbClr val="D6DEE4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779508" y="4846320"/>
            <a:ext cx="18882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de resposta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548640" y="5806440"/>
            <a:ext cx="11064240" cy="640080"/>
          </a:xfrm>
          <a:prstGeom prst="roundRect">
            <a:avLst>
              <a:gd name="adj" fmla="val 12857"/>
            </a:avLst>
          </a:prstGeom>
          <a:solidFill>
            <a:srgbClr val="001028"/>
          </a:solidFill>
          <a:ln/>
        </p:spPr>
      </p:sp>
      <p:sp>
        <p:nvSpPr>
          <p:cNvPr id="42" name="Text 39"/>
          <p:cNvSpPr/>
          <p:nvPr/>
        </p:nvSpPr>
        <p:spPr>
          <a:xfrm>
            <a:off x="548640" y="58064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78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PoC  →  Piloto  →  Prova de ROI  →  Contrato Enterprise  →  Expansão</a:t>
            </a:r>
            <a:endParaRPr lang="en-US" sz="1500" dirty="0"/>
          </a:p>
        </p:txBody>
      </p:sp>
      <p:sp>
        <p:nvSpPr>
          <p:cNvPr id="44" name="Text 40"/>
          <p:cNvSpPr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C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10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FLEETMIND AI  •  VISÃO</a:t>
            </a:r>
            <a:endParaRPr lang="en-US" sz="1300" dirty="0"/>
          </a:p>
        </p:txBody>
      </p:sp>
      <p:pic>
        <p:nvPicPr>
          <p:cNvPr id="3" name="Image 0" descr="../assets/logo_ico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384048"/>
            <a:ext cx="566928" cy="2736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0058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Assim como ERPs organizaram os recursos da empresa e CRMs organizaram o relacionamento com o cliente —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22960" y="16002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nova camada de inteligência vai organizar a decisão operacional das frotas.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822960" y="2606040"/>
            <a:ext cx="10515600" cy="0"/>
          </a:xfrm>
          <a:prstGeom prst="line">
            <a:avLst/>
          </a:prstGeom>
          <a:noFill/>
          <a:ln w="12700">
            <a:solidFill>
              <a:srgbClr val="24406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288036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i="1" dirty="0">
                <a:solidFill>
                  <a:srgbClr val="0078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 futuro da gestão de frotas não será apenas saber onde cada veículo está.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i="1" dirty="0">
                <a:solidFill>
                  <a:srgbClr val="0078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Será saber o que está acontecendo, o que provavelmente acontecerá,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i="1" dirty="0">
                <a:solidFill>
                  <a:srgbClr val="0078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qual decisão deve ser tomada antes que o problema aconteça.”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822960" y="4526280"/>
            <a:ext cx="10515600" cy="1051560"/>
          </a:xfrm>
          <a:prstGeom prst="roundRect">
            <a:avLst>
              <a:gd name="adj" fmla="val 8696"/>
            </a:avLst>
          </a:prstGeom>
          <a:solidFill>
            <a:srgbClr val="0C2440"/>
          </a:solidFill>
          <a:ln w="12700">
            <a:solidFill>
              <a:srgbClr val="24406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97280" y="4526280"/>
            <a:ext cx="9966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00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to action:  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buscamos transportadoras parceiras para piloto, parceiros tecnológicos estratégicos e investidores para construir e validar, juntos, essa nova camada de inteligência para o transporte.</a:t>
            </a:r>
            <a:endParaRPr lang="en-US" sz="1350" dirty="0"/>
          </a:p>
        </p:txBody>
      </p:sp>
      <p:pic>
        <p:nvPicPr>
          <p:cNvPr id="10" name="Image 1" descr="../assets/logo_ico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742432"/>
            <a:ext cx="868680" cy="41936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783080" y="57424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FleetMind AI</a:t>
            </a:r>
            <a:endParaRPr lang="en-US" sz="2600" dirty="0"/>
          </a:p>
        </p:txBody>
      </p:sp>
      <p:sp>
        <p:nvSpPr>
          <p:cNvPr id="12" name="Text 8"/>
          <p:cNvSpPr/>
          <p:nvPr/>
        </p:nvSpPr>
        <p:spPr>
          <a:xfrm>
            <a:off x="1783080" y="61996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0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inteligência que move o transporte.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2026-08-20T14:03:25Z</dcterms:created>
  <dcterms:modified xsi:type="dcterms:W3CDTF">2026-08-20T14:03:25Z</dcterms:modified>
</cp:coreProperties>
</file>